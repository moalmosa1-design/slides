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2560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42B1E"/>
                </a:solidFill>
                <a:latin typeface="Calibri"/>
              </a:rPr>
              <a:t>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GCC  Health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FC18A"/>
                </a:solidFill>
                <a:latin typeface="Calibri"/>
              </a:rPr>
              <a:t>— COMMUNITY PROFILE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Georgia"/>
              </a:rPr>
              <a:t>The Community
Powering Healthcare
in the Gulf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63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B8B8"/>
                </a:solidFill>
                <a:latin typeface="Calibri"/>
              </a:rPr>
              <a:t>The Gulf's leading network where clinicians, AI builders, founders, and investors connect — and turn ideas into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66"/>
                </a:solidFill>
                <a:latin typeface="Calibri"/>
              </a:rPr>
              <a:t>GCC Health AI · gcchealth.ai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FC18A"/>
                </a:solidFill>
                <a:latin typeface="Calibri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Georgia"/>
              </a:rPr>
              <a:t>GCC
Health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743200"/>
            <a:ext cx="59436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Georgia"/>
              </a:rPr>
              <a:t>300+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FC18A"/>
                </a:solidFill>
                <a:latin typeface="Georgia"/>
              </a:rPr>
              <a:t>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ACROSS 6 GLOBAL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655"/>
                </a:solidFill>
                <a:latin typeface="Calibri"/>
              </a:rPr>
              <a:t>EST.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0"/>
            <a:ext cx="702533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50292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A4E"/>
                </a:solidFill>
                <a:latin typeface="Calibri"/>
              </a:rPr>
              <a:t>WHAT WE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996696"/>
            <a:ext cx="329184" cy="329184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9601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941832"/>
            <a:ext cx="5928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D4A"/>
                </a:solidFill>
                <a:latin typeface="Calibri"/>
              </a:rPr>
              <a:t>The region's definitive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234440"/>
            <a:ext cx="5928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One room for clinicians, AI builders, founders, and investors shaping Gulf healthcare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139696"/>
            <a:ext cx="329184" cy="329184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21031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84832"/>
            <a:ext cx="5928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D4A"/>
                </a:solidFill>
                <a:latin typeface="Calibri"/>
              </a:rPr>
              <a:t>Cross-border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377440"/>
            <a:ext cx="5928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Partnerships, deal flow, and knowledge moving freely across six markets that usually work alone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282696"/>
            <a:ext cx="329184" cy="329184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9552" y="32461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27832"/>
            <a:ext cx="5928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D4A"/>
                </a:solidFill>
                <a:latin typeface="Calibri"/>
              </a:rPr>
              <a:t>Built for adoption, not hype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520440"/>
            <a:ext cx="5928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We help AI move from pilot to patient — aligned with Vision 2030's healthcare ambitions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4425696"/>
            <a:ext cx="329184" cy="329184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43891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370832"/>
            <a:ext cx="5928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D4A"/>
                </a:solidFill>
                <a:latin typeface="Calibri"/>
              </a:rPr>
              <a:t>Curated, never crowded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663440"/>
            <a:ext cx="5928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Every member is vetted, so conversations stay high-signal and connections actually convert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FC18A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GCC healthcare is fragmented
— and AI won't wait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486400" cy="2011680"/>
          </a:xfrm>
          <a:prstGeom prst="roundRect">
            <a:avLst/>
          </a:prstGeom>
          <a:solidFill>
            <a:srgbClr val="0D2A1B"/>
          </a:solidFill>
          <a:ln w="9525">
            <a:solidFill>
              <a:srgbClr val="1E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384048" cy="384048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468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Discovery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090"/>
                </a:solidFill>
                <a:latin typeface="Calibri"/>
              </a:rPr>
              <a:t>Founders can't find the right hospital, regulator, or investor — so the right people never meet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486400" cy="2011680"/>
          </a:xfrm>
          <a:prstGeom prst="roundRect">
            <a:avLst/>
          </a:prstGeom>
          <a:solidFill>
            <a:srgbClr val="0D2A1B"/>
          </a:solidFill>
          <a:ln w="9525">
            <a:solidFill>
              <a:srgbClr val="1E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54864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0528" y="2514600"/>
            <a:ext cx="384048" cy="384048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46888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468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Markets in Silos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85292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090"/>
                </a:solidFill>
                <a:latin typeface="Calibri"/>
              </a:rPr>
              <a:t>Saudi, the UAE, and Oman each move alone — duplicating effort instead of compounding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486400" cy="2011680"/>
          </a:xfrm>
          <a:prstGeom prst="roundRect">
            <a:avLst/>
          </a:prstGeom>
          <a:solidFill>
            <a:srgbClr val="0D2A1B"/>
          </a:solidFill>
          <a:ln w="9525">
            <a:solidFill>
              <a:srgbClr val="1E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4864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617720"/>
            <a:ext cx="384048" cy="384048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5720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Pilots That 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95604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090"/>
                </a:solidFill>
                <a:latin typeface="Calibri"/>
              </a:rPr>
              <a:t>AI advances faster than legacy systems adopt it — promising tools die after the 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97680"/>
            <a:ext cx="5486400" cy="2011680"/>
          </a:xfrm>
          <a:prstGeom prst="roundRect">
            <a:avLst/>
          </a:prstGeom>
          <a:solidFill>
            <a:srgbClr val="0D2A1B"/>
          </a:solidFill>
          <a:ln w="9525">
            <a:solidFill>
              <a:srgbClr val="1E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297680"/>
            <a:ext cx="54864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10528" y="4617720"/>
            <a:ext cx="384048" cy="384048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5720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Capital Misses Talent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495604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090"/>
                </a:solidFill>
                <a:latin typeface="Calibri"/>
              </a:rPr>
              <a:t>Investors overlook regional deals while founders chase capital abroad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96E"/>
                </a:solidFill>
                <a:latin typeface="Calibri"/>
              </a:rPr>
              <a:t>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E2D4A"/>
                </a:solidFill>
                <a:latin typeface="Georgia"/>
              </a:rPr>
              <a:t>Who's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0E7A4E"/>
                </a:solidFill>
                <a:latin typeface="Georgia"/>
              </a:rPr>
              <a:t>300+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D4A"/>
                </a:solidFill>
                <a:latin typeface="Calibri"/>
              </a:rPr>
              <a:t>ACTIVE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37360"/>
            <a:ext cx="36576" cy="16459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9164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96E"/>
                </a:solidFill>
                <a:latin typeface="Calibri"/>
              </a:rPr>
              <a:t>MEMBER ARCHETYPES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214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🚀  Founders &amp; Startups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01168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1214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🏥  Healthcare 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8892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🧠  AI Engineers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78892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89864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💼  Investors &amp; VCs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56616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🎓  Researchers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566160"/>
            <a:ext cx="21031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D4A"/>
                </a:solidFill>
                <a:latin typeface="Calibri"/>
              </a:rPr>
              <a:t>🏛️  Policy &amp; Gov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7295" cy="27432"/>
          </a:xfrm>
          <a:prstGeom prst="rect">
            <a:avLst/>
          </a:prstGeom>
          <a:solidFill>
            <a:srgbClr val="E0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Global footprint:  SA · UAE · OM · IN · EU · USA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96E"/>
                </a:solidFill>
                <a:latin typeface="Calibri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D4A"/>
                </a:solidFill>
                <a:latin typeface="Georgia"/>
              </a:rPr>
              <a:t>From Connection to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514600" cy="4114800"/>
          </a:xfrm>
          <a:prstGeom prst="round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D4A"/>
                </a:solidFill>
                <a:latin typeface="Calibri"/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FC18A"/>
                </a:solidFill>
                <a:latin typeface="Georgia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Vetted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93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Founders ↔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239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Six markets, one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5146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1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D4A"/>
                </a:solidFill>
                <a:latin typeface="Calibr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7A4E"/>
                </a:solidFill>
                <a:latin typeface="Georgia"/>
              </a:rPr>
              <a:t>Collaborate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Joint ventures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93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Clinical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1239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Shared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25146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D4A"/>
                </a:solidFill>
                <a:latin typeface="Calibr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7A4E"/>
                </a:solidFill>
                <a:latin typeface="Georgia"/>
              </a:rPr>
              <a:t>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Funding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Talent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239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• New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691640"/>
            <a:ext cx="2514600" cy="4114800"/>
          </a:xfrm>
          <a:prstGeom prst="round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87451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D4A"/>
                </a:solidFill>
                <a:latin typeface="Calibri"/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514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FC18A"/>
                </a:solidFill>
                <a:latin typeface="Georgia"/>
              </a:rP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Faster adoption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93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Vision 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1239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B59A"/>
                </a:solidFill>
                <a:latin typeface="Calibri"/>
              </a:rPr>
              <a:t>• Better patient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Turning a fragmented ecosystem into a connected, intelligent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FC18A"/>
                </a:solidFill>
                <a:latin typeface="Calibri"/>
              </a:rPr>
              <a:t>KNOWLEDGE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Webinar Programme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474720" cy="1645920"/>
          </a:xfrm>
          <a:prstGeom prst="roundRect">
            <a:avLst/>
          </a:prstGeom>
          <a:solidFill>
            <a:srgbClr val="162D20"/>
          </a:solidFill>
          <a:ln w="9525">
            <a:solidFill>
              <a:srgbClr val="2E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Georg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088"/>
                </a:solidFill>
                <a:latin typeface="Calibri"/>
              </a:rPr>
              <a:t>TOTAL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00200"/>
            <a:ext cx="3474720" cy="1645920"/>
          </a:xfrm>
          <a:prstGeom prst="roundRect">
            <a:avLst/>
          </a:prstGeom>
          <a:solidFill>
            <a:srgbClr val="162D20"/>
          </a:solidFill>
          <a:ln w="9525">
            <a:solidFill>
              <a:srgbClr val="2E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6642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C9A96E"/>
                </a:solidFill>
                <a:latin typeface="Georg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088"/>
                </a:solidFill>
                <a:latin typeface="Calibri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00200"/>
            <a:ext cx="3474720" cy="1645920"/>
          </a:xfrm>
          <a:prstGeom prst="roundRect">
            <a:avLst/>
          </a:prstGeom>
          <a:solidFill>
            <a:srgbClr val="162D20"/>
          </a:solidFill>
          <a:ln w="9525">
            <a:solidFill>
              <a:srgbClr val="2E5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66420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8AB89A"/>
                </a:solidFill>
                <a:latin typeface="Georg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088"/>
                </a:solidFill>
                <a:latin typeface="Calibri"/>
              </a:rPr>
              <a:t>UPCOMING → OCT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88"/>
                </a:solidFill>
                <a:latin typeface="Calibri"/>
              </a:rPr>
              <a:t>●●●●●●●●●●  ○○○○○   10 / 15 sessions 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2103120" cy="2148840"/>
          </a:xfrm>
          <a:prstGeom prst="roundRect">
            <a:avLst/>
          </a:prstGeom>
          <a:solidFill>
            <a:srgbClr val="0D281B"/>
          </a:solidFill>
          <a:ln w="9525">
            <a:solidFill>
              <a:srgbClr val="1E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867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D4A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3891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800600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27A"/>
                </a:solidFill>
                <a:latin typeface="Calibri"/>
              </a:rPr>
              <a:t>Agentic use in healthcare · How clinicians build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3703320"/>
            <a:ext cx="2103120" cy="2148840"/>
          </a:xfrm>
          <a:prstGeom prst="roundRect">
            <a:avLst/>
          </a:prstGeom>
          <a:solidFill>
            <a:srgbClr val="0D281B"/>
          </a:solidFill>
          <a:ln w="9525">
            <a:solidFill>
              <a:srgbClr val="1E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3867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D4A"/>
                </a:solidFill>
                <a:latin typeface="Calibri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43891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4800600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27A"/>
                </a:solidFill>
                <a:latin typeface="Calibri"/>
              </a:rPr>
              <a:t>Regulatory pathways · Accountability frameworks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624" y="3703320"/>
            <a:ext cx="2103120" cy="2148840"/>
          </a:xfrm>
          <a:prstGeom prst="roundRect">
            <a:avLst/>
          </a:prstGeom>
          <a:solidFill>
            <a:srgbClr val="0D281B"/>
          </a:solidFill>
          <a:ln w="9525">
            <a:solidFill>
              <a:srgbClr val="1E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D4A"/>
                </a:solidFill>
                <a:latin typeface="Calibri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43891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Innovation to Adoption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4800600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27A"/>
                </a:solidFill>
                <a:latin typeface="Calibri"/>
              </a:rPr>
              <a:t>Why AI stalls after pilot · Scaling AI to patients (Novartis)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0336" y="3703320"/>
            <a:ext cx="2103120" cy="2148840"/>
          </a:xfrm>
          <a:prstGeom prst="roundRect">
            <a:avLst/>
          </a:prstGeom>
          <a:solidFill>
            <a:srgbClr val="0D281B"/>
          </a:solidFill>
          <a:ln w="9525">
            <a:solidFill>
              <a:srgbClr val="1E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3867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D4A"/>
                </a:solidFill>
                <a:latin typeface="Calibri"/>
              </a:rPr>
              <a:t>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43891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Future Trends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4800600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27A"/>
                </a:solidFill>
                <a:latin typeface="Calibri"/>
              </a:rPr>
              <a:t>What's next for healthcare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3703320"/>
            <a:ext cx="2103120" cy="2148840"/>
          </a:xfrm>
          <a:prstGeom prst="roundRect">
            <a:avLst/>
          </a:prstGeom>
          <a:solidFill>
            <a:srgbClr val="0D281B"/>
          </a:solidFill>
          <a:ln w="9525">
            <a:solidFill>
              <a:srgbClr val="1E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3867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D4A"/>
                </a:solidFill>
                <a:latin typeface="Calibri"/>
              </a:rP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389120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Specialty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800600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27A"/>
                </a:solidFill>
                <a:latin typeface="Calibri"/>
              </a:rPr>
              <a:t>Dentistry · Nursing · DATASure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96E"/>
                </a:solidFill>
                <a:latin typeface="Calibri"/>
              </a:rPr>
              <a:t>OUR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658368"/>
            <a:ext cx="7772400" cy="36576"/>
          </a:xfrm>
          <a:prstGeom prst="rect">
            <a:avLst/>
          </a:prstGeom>
          <a:solidFill>
            <a:srgbClr val="2A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475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Community by the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3474720" cy="4846320"/>
          </a:xfrm>
          <a:prstGeom prst="roundRect">
            <a:avLst/>
          </a:prstGeom>
          <a:solidFill>
            <a:srgbClr val="0D2718"/>
          </a:solidFill>
          <a:ln w="9525">
            <a:solidFill>
              <a:srgbClr val="1E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347472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61288"/>
            <a:ext cx="1280160" cy="347472"/>
          </a:xfrm>
          <a:prstGeom prst="roundRect">
            <a:avLst/>
          </a:prstGeom>
          <a:solidFill>
            <a:srgbClr val="0A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24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↑ Growing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18488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 b="1">
                <a:solidFill>
                  <a:srgbClr val="FFFFFF"/>
                </a:solidFill>
                <a:latin typeface="Georgia"/>
              </a:rPr>
              <a:t>300+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DDDDD"/>
                </a:solidFill>
                <a:latin typeface="Calibri"/>
              </a:rPr>
              <a:t>Active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8877"/>
                </a:solidFill>
                <a:latin typeface="Calibri"/>
              </a:rPr>
              <a:t>Clinicians, builders, founders, and investors — vetted and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960120"/>
            <a:ext cx="3474720" cy="4846320"/>
          </a:xfrm>
          <a:prstGeom prst="roundRect">
            <a:avLst/>
          </a:prstGeom>
          <a:solidFill>
            <a:srgbClr val="0D2718"/>
          </a:solidFill>
          <a:ln w="9525">
            <a:solidFill>
              <a:srgbClr val="1E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1376" y="960120"/>
            <a:ext cx="3474720" cy="54864"/>
          </a:xfrm>
          <a:prstGeom prst="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4256" y="1161288"/>
            <a:ext cx="1280160" cy="347472"/>
          </a:xfrm>
          <a:prstGeom prst="roundRect">
            <a:avLst/>
          </a:prstGeom>
          <a:solidFill>
            <a:srgbClr val="0A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124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↑ Expanding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618488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DDDDD"/>
                </a:solidFill>
                <a:latin typeface="Calibri"/>
              </a:rPr>
              <a:t>Countries &amp; 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5661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8877"/>
                </a:solidFill>
                <a:latin typeface="Calibri"/>
              </a:rPr>
              <a:t>SA · UAE · Oman · India · Europe · USA — with more joining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960120"/>
            <a:ext cx="3474720" cy="4846320"/>
          </a:xfrm>
          <a:prstGeom prst="roundRect">
            <a:avLst/>
          </a:prstGeom>
          <a:solidFill>
            <a:srgbClr val="0D2718"/>
          </a:solidFill>
          <a:ln w="9525">
            <a:solidFill>
              <a:srgbClr val="1E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960120"/>
            <a:ext cx="3474720" cy="54864"/>
          </a:xfrm>
          <a:prstGeom prst="rect">
            <a:avLst/>
          </a:prstGeom>
          <a:solidFill>
            <a:srgbClr val="DFC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28432" y="1161288"/>
            <a:ext cx="1280160" cy="347472"/>
          </a:xfrm>
          <a:prstGeom prst="roundRect">
            <a:avLst/>
          </a:prstGeom>
          <a:solidFill>
            <a:srgbClr val="0A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124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↑ Connecting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1618488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 b="1">
                <a:solidFill>
                  <a:srgbClr val="FFFFFF"/>
                </a:solidFill>
                <a:latin typeface="Georgia"/>
              </a:rPr>
              <a:t>4+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DDDDD"/>
                </a:solidFill>
                <a:latin typeface="Calibri"/>
              </a:rPr>
              <a:t>Member Archetypes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35661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8877"/>
                </a:solidFill>
                <a:latin typeface="Calibri"/>
              </a:rPr>
              <a:t>Founders · Clinicians · AI Engineers · Investors — all in one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44"/>
                </a:solidFill>
                <a:latin typeface="Calibri"/>
              </a:rPr>
              <a:t>Community data as of 2025 · GCC Health AI Community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E2D4A"/>
                </a:solidFill>
                <a:latin typeface="Georgia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02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B7280"/>
                </a:solidFill>
                <a:latin typeface="Calibri"/>
              </a:rPr>
              <a:t>2023 → 2027+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Our mission: make the GCC a global leader in AI-driven healthcare — the connective tissue linking talent, capital, and clinical institutions across the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124712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10424160" cy="54864"/>
          </a:xfrm>
          <a:prstGeom prst="rect">
            <a:avLst/>
          </a:prstGeom>
          <a:solidFill>
            <a:srgbClr val="DDD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5212080" cy="54864"/>
          </a:xfrm>
          <a:prstGeom prst="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36192" y="2395728"/>
            <a:ext cx="594360" cy="594360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5336" y="2377440"/>
            <a:ext cx="576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7A4E"/>
                </a:solidFill>
                <a:latin typeface="Calibri"/>
              </a:rPr>
              <a:t>2023–2024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4A"/>
                </a:solidFill>
                <a:latin typeface="Georgia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Community launch · 300+ members · 6-market presence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2395728"/>
            <a:ext cx="594360" cy="594360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377440"/>
            <a:ext cx="576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7A4E"/>
                </a:solidFill>
                <a:latin typeface="Calibri"/>
              </a:rPr>
              <a:t>2024–2025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4A"/>
                </a:solidFill>
                <a:latin typeface="Georgia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Digital hub · Matchmaking tools · Events &amp; summits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395728"/>
            <a:ext cx="5943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377440"/>
            <a:ext cx="576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A4E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7A4E"/>
                </a:solidFill>
                <a:latin typeface="Calibri"/>
              </a:rPr>
              <a:t>2025–2026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4A"/>
                </a:solidFill>
                <a:latin typeface="Georgia"/>
              </a:rPr>
              <a:t>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Deal flow pipeline · Research partnerships · 1,000+ members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5394960"/>
            <a:ext cx="1371600" cy="347472"/>
          </a:xfrm>
          <a:prstGeom prst="round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53766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14432" y="2395728"/>
            <a:ext cx="594360" cy="594360"/>
          </a:xfrm>
          <a:prstGeom prst="roundRect">
            <a:avLst/>
          </a:prstGeom>
          <a:solidFill>
            <a:srgbClr val="E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23576" y="2377440"/>
            <a:ext cx="576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Calibri"/>
              </a:rPr>
              <a:t>2027+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Georgia"/>
              </a:rPr>
              <a:t>Leadership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233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GCC Health AI index · Policy influence · Global benchmark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72200"/>
            <a:ext cx="11247120" cy="45720"/>
          </a:xfrm>
          <a:prstGeom prst="rect">
            <a:avLst/>
          </a:prstGeom>
          <a:solidFill>
            <a:srgbClr val="E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819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A4E"/>
                </a:solidFill>
                <a:latin typeface="Calibri"/>
              </a:rPr>
              <a:t>Overall Progress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6382512"/>
            <a:ext cx="8046720" cy="228600"/>
          </a:xfrm>
          <a:prstGeom prst="rect">
            <a:avLst/>
          </a:prstGeom>
          <a:solidFill>
            <a:srgbClr val="E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6382512"/>
            <a:ext cx="4023360" cy="228600"/>
          </a:xfrm>
          <a:prstGeom prst="rect">
            <a:avLst/>
          </a:prstGeom>
          <a:solidFill>
            <a:srgbClr val="0E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628192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2D4A"/>
                </a:solidFill>
                <a:latin typeface="Calibri"/>
              </a:rPr>
              <a:t>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657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9A96E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E2D4A"/>
                </a:solidFill>
                <a:latin typeface="Georgia"/>
              </a:rPr>
              <a:t>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The team turning a regional vision into a working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057400"/>
            <a:ext cx="8503920" cy="45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38328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2560320"/>
            <a:ext cx="1188720" cy="118872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1188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7A4E"/>
                </a:solidFill>
                <a:latin typeface="Georgia"/>
              </a:rPr>
              <a:t>ZH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A4E"/>
                </a:solidFill>
                <a:latin typeface="Calibri"/>
              </a:rPr>
              <a:t>Dr. Zahid Hussain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616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D4A"/>
                </a:solidFill>
                <a:latin typeface="Calibri"/>
              </a:rPr>
              <a:t>Founder &amp; Community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Sets the clinical vision and rallies the network behind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40280"/>
            <a:ext cx="338328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560320"/>
            <a:ext cx="1188720" cy="118872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514600"/>
            <a:ext cx="1188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7A4E"/>
                </a:solidFill>
                <a:latin typeface="Georgia"/>
              </a:rPr>
              <a:t>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A4E"/>
                </a:solidFill>
                <a:latin typeface="Calibri"/>
              </a:rPr>
              <a:t>Mohammed Almosa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3616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D4A"/>
                </a:solidFill>
                <a:latin typeface="Calibri"/>
              </a:rPr>
              <a:t>Operations &amp; Growth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Builds the partnerships and systems that scale the community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240280"/>
            <a:ext cx="338328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2560320"/>
            <a:ext cx="1188720" cy="118872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188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7A4E"/>
                </a:solidFill>
                <a:latin typeface="Georgia"/>
              </a:rPr>
              <a:t>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A4E"/>
                </a:solidFill>
                <a:latin typeface="Calibri"/>
              </a:rPr>
              <a:t>Maria Expósito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3616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D4A"/>
                </a:solidFill>
                <a:latin typeface="Calibri"/>
              </a:rPr>
              <a:t>Strategy &amp; Finance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Shapes strategy and keeps the community's growth sustainable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0E281A"/>
                </a:solidFill>
                <a:latin typeface="Calibri"/>
              </a:rPr>
              <a:t>GCC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GCC  Health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FC18A"/>
                </a:solidFill>
                <a:latin typeface="Calibri"/>
              </a:rPr>
              <a:t>— GET INVOLVED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749039"/>
            <a:ext cx="7772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Georgia"/>
              </a:rPr>
              <a:t>Shape the Future
of Healthcare
in the Gulf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0807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B8B8"/>
                </a:solidFill>
                <a:latin typeface="Calibri"/>
              </a:rPr>
              <a:t>Join a curated network of the region's brightest minds in healthcare and AI. Connect, collaborate, and help build what comes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FC18A"/>
                </a:solidFill>
                <a:latin typeface="Calibri"/>
              </a:rPr>
              <a:t>✉  linkedin.com/in/gcc-health-ai  ·  🌐 gcchealth.ai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92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655"/>
                </a:solidFill>
                <a:latin typeface="Calibri"/>
              </a:rPr>
              <a:t>GCC Health AI ·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